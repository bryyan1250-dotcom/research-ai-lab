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56032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Launch Keynote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15568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6400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101828"/>
                </a:solidFill>
                <a:latin typeface="Aptos"/>
              </a:rPr>
              <a:t>Research AI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42318"/>
                </a:solidFill>
                <a:latin typeface="Aptos"/>
              </a:rPr>
              <a:t>Versión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ptos"/>
              </a:rPr>
              <a:t>Open Research. Open Science. Open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731520" cy="36576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9144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01828"/>
                </a:solidFill>
                <a:latin typeface="Aptos"/>
              </a:rPr>
              <a:t>Imagina que mañana debes empezar tu estado del arte.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52928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Aptos"/>
              </a:rPr>
              <a:t>Sin autores. Sin papers. Sin mapa.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783080"/>
            <a:ext cx="91440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01828"/>
                </a:solidFill>
                <a:latin typeface="Aptos"/>
              </a:rPr>
              <a:t>"Prepara un estado del arte completo sobre este tema."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3822191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42318"/>
                </a:solidFill>
                <a:latin typeface="Aptos"/>
              </a:rPr>
              <a:t>Solo tienes una pregunta.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417320"/>
            <a:ext cx="98755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01828"/>
                </a:solidFill>
                <a:latin typeface="Aptos"/>
              </a:rPr>
              <a:t>¿Cómo está impactando la inteligencia artificial la productividad y el crecimiento económico en economías emergentes?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7830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101828"/>
                </a:solidFill>
                <a:latin typeface="Aptos"/>
              </a:rPr>
              <a:t>Toda investigación comienza con incertidumbre.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33832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67085"/>
                </a:solidFill>
                <a:latin typeface="Aptos"/>
              </a:rPr>
              <a:t>La diferencia está en cómo la orquestamos.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024128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81328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0" b="1">
                <a:solidFill>
                  <a:srgbClr val="101828"/>
                </a:solidFill>
                <a:latin typeface="Aptos"/>
              </a:rP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ptos"/>
              </a:rPr>
              <a:t>Por qué el flujo tradicional ya no escala.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Flujo tradicional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Aptos"/>
              </a:rPr>
              <a:t>Buscar. Descargar. Copiar. Perder contexto.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7373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7510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30428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Google Scholar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542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871215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PDFs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3108959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438144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675887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05072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2428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5720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42318"/>
                </a:solidFill>
                <a:latin typeface="Aptos"/>
              </a:rPr>
              <a:t>Publicación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7830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101828"/>
                </a:solidFill>
                <a:latin typeface="Aptos"/>
              </a:rPr>
              <a:t>Investigar ya no es solo buscar.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33832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67085"/>
                </a:solidFill>
                <a:latin typeface="Aptos"/>
              </a:rPr>
              <a:t>Investigar es orquestar conocimiento.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Research AI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Aptos"/>
              </a:rPr>
              <a:t>Descubrimiento. lectura. evidencia. memoria. escritura.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7373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Descubrimiento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97510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30428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Expansión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542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871215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Validación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3108959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438144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Lectura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675887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05072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Memoria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2428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5720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42318"/>
                </a:solidFill>
                <a:latin typeface="Aptos"/>
              </a:rPr>
              <a:t>Comunicación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024128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81328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0" b="1">
                <a:solidFill>
                  <a:srgbClr val="101828"/>
                </a:solidFill>
                <a:latin typeface="Aptos"/>
              </a:rP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ptos"/>
              </a:rPr>
              <a:t>Laboratorio 01: Economía.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731520" cy="36576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89888"/>
            <a:ext cx="9144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01828"/>
                </a:solidFill>
                <a:latin typeface="Aptos"/>
              </a:rPr>
              <a:t>Research AI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52928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Aptos"/>
              </a:rPr>
              <a:t>Laboratorio 01: Economía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Del problema a la oportunidad científica.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9339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42318"/>
                </a:solidFill>
                <a:latin typeface="Aptos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12140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9339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Perplexity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12140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9339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OpenAlex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12140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9339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Semantic Scholar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19" y="212140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9339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ResearchRabbit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212140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993392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Litmaps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Consensus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96849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84048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Scite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96849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84048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SciSpace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96849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4048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NotebookLM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396849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4048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ptos"/>
              </a:rPr>
              <a:t>ChatGPT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396849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84048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42318"/>
                </a:solidFill>
                <a:latin typeface="Aptos"/>
              </a:rPr>
              <a:t>Nueva oportunidad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8163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Perplexity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Entender 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perplexity.ai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Mapa inicial de palabras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OpenAlex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How is Artificial Intelligence impacting productivity and economic growth in emerging economies?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Conceptos, reportes, instituciones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OpenAlex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Abrir el universo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openalex.org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Primer corpus académico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Semantic Scholar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"artificial intelligence" productivity "emerging economies"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Autores, revistas, años, volumen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Semantic Scholar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Refinar relevancia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semanticscholar.org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Lista de lectura priorizada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ResearchRabbit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"artificial intelligence" productivity "emerging economies"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Trabajos clave y citaciones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ResearchRabbit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Seguir conexiones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researchrabbit.ai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Grafo de literatura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Litmaps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AI productivity emerging economies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Redes, clústeres, autores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Litmaps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Ver evolución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litmaps.com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Mapa cronológico útil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Consensus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AI productivity emerging economies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Huecos temporales y ramas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Consensus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Escuchar la evidencia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consensus.app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Dirección general del debate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Scite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Does artificial intelligence increase productivity in developing countries?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Patrones y convergencias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Scite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Validar confianza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scite.ai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Evidencia más robusta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SciSpace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"artificial intelligence" productivity firms growth "developing countries"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Supporting, contrasting, mentioning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SciSpace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Leer con precisión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typeset.io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Notas analíticas comparables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NotebookLM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"artificial intelligence" productivity "developing economies"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Métodos, datos, limitaciones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NotebookLM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Construir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notebooklm.google.com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Base de conocimiento compartida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Corpus: 60 artículos validados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Temas, tensiones, síntesis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1828"/>
                </a:solidFill>
                <a:latin typeface="Aptos"/>
              </a:rPr>
              <a:t>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024128"/>
            <a:ext cx="7315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Comunicar ciencia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chatgpt.com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1828"/>
                </a:solidFill>
                <a:latin typeface="Aptos"/>
              </a:rPr>
              <a:t>Síntesis científica lista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2318"/>
                </a:solidFill>
                <a:latin typeface="Aptos"/>
              </a:rPr>
              <a:t>Nueva oportunidad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27632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01828"/>
                </a:solidFill>
                <a:latin typeface="Aptos"/>
              </a:rPr>
              <a:t>Synthesize validated evidence. Compare findings, controversies, and one research gap.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675887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913632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01828"/>
                </a:solidFill>
                <a:latin typeface="Aptos"/>
              </a:rPr>
              <a:t>Argumento, estructura, claridad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024128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81328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0" b="1">
                <a:solidFill>
                  <a:srgbClr val="101828"/>
                </a:solidFill>
                <a:latin typeface="Aptos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ptos"/>
              </a:rPr>
              <a:t>La transformación de una pregunta en conocimiento estructurado.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Transformación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17373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1200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197510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30428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240 relevantes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2542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871215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60 sólidos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3108959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438144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12 revisiones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675887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005072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5 autores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42428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5720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3 escuelas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480974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138927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01828"/>
                </a:solidFill>
                <a:latin typeface="Aptos"/>
              </a:rPr>
              <a:t>2 controversias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537667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5705856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42318"/>
                </a:solidFill>
                <a:latin typeface="Aptos"/>
              </a:rPr>
              <a:t>1 vacío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7830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101828"/>
                </a:solidFill>
                <a:latin typeface="Aptos"/>
              </a:rPr>
              <a:t>Toda buena investigación termina con una nueva pregunta.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33832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67085"/>
                </a:solidFill>
                <a:latin typeface="Aptos"/>
              </a:rPr>
              <a:t>Ahí empieza la siguiente oportunidad científica.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024128"/>
            <a:ext cx="914400" cy="36576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81328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0" b="1">
                <a:solidFill>
                  <a:srgbClr val="101828"/>
                </a:solidFill>
                <a:latin typeface="Aptos"/>
              </a:rPr>
              <a:t>WHAT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ptos"/>
              </a:rPr>
              <a:t>El lanzamiento oficial de Research AI Lab.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WHAT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Versión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7085"/>
                </a:solidFill>
                <a:latin typeface="Aptos"/>
              </a:rPr>
              <a:t>Arquitectura pública para investigar mejor con inteligencia artificial.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9456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5915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Laboratorio de Economía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219456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235915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Research AI Toolkit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33756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0215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Research Recipes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333756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350215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Resources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48056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4515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GitHub Repository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WHAT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01828"/>
                </a:solidFill>
                <a:latin typeface="Aptos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01168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Aptos"/>
              </a:rPr>
              <a:t>Versión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2011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3075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ptos"/>
              </a:rPr>
              <a:t>Coming Soon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01168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2402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Aptos"/>
              </a:rPr>
              <a:t>Versión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670048"/>
            <a:ext cx="2011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73075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Aptos"/>
              </a:rPr>
              <a:t>Coming Soon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01168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2402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Aptos"/>
              </a:rPr>
              <a:t>Versión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670048"/>
            <a:ext cx="2011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Research 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011680"/>
            <a:ext cx="64008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2402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Aptos"/>
              </a:rPr>
              <a:t>Versión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670048"/>
            <a:ext cx="2011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Aptos"/>
              </a:rPr>
              <a:t>Research Operating System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WHAT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La investigadora sigue en el centro.</a:t>
            </a:r>
          </a:p>
        </p:txBody>
      </p:sp>
      <p:sp>
        <p:nvSpPr>
          <p:cNvPr id="4" name="Oval 3"/>
          <p:cNvSpPr/>
          <p:nvPr/>
        </p:nvSpPr>
        <p:spPr>
          <a:xfrm>
            <a:off x="4754880" y="2377440"/>
            <a:ext cx="1920240" cy="1920240"/>
          </a:xfrm>
          <a:prstGeom prst="ellipse">
            <a:avLst/>
          </a:prstGeom>
          <a:solidFill>
            <a:srgbClr val="FEE4E2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83480" y="31546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01828"/>
                </a:solidFill>
                <a:latin typeface="Aptos"/>
              </a:rPr>
              <a:t>Investigadora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82880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05740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9281160" y="182880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08592" y="205740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Reading</a:t>
            </a:r>
          </a:p>
        </p:txBody>
      </p:sp>
      <p:sp>
        <p:nvSpPr>
          <p:cNvPr id="10" name="Oval 9"/>
          <p:cNvSpPr/>
          <p:nvPr/>
        </p:nvSpPr>
        <p:spPr>
          <a:xfrm>
            <a:off x="9784080" y="306324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1511" y="329184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Evidence</a:t>
            </a:r>
          </a:p>
        </p:txBody>
      </p:sp>
      <p:sp>
        <p:nvSpPr>
          <p:cNvPr id="12" name="Oval 11"/>
          <p:cNvSpPr/>
          <p:nvPr/>
        </p:nvSpPr>
        <p:spPr>
          <a:xfrm>
            <a:off x="9098280" y="461772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1" y="484632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Citation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417320" y="461772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484632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Writing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06324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29184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Workspace</a:t>
            </a:r>
          </a:p>
        </p:txBody>
      </p:sp>
      <p:sp>
        <p:nvSpPr>
          <p:cNvPr id="18" name="Oval 17"/>
          <p:cNvSpPr/>
          <p:nvPr/>
        </p:nvSpPr>
        <p:spPr>
          <a:xfrm>
            <a:off x="2880360" y="507492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1" y="530352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Monitoring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0" y="507492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530352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Agents</a:t>
            </a:r>
          </a:p>
        </p:txBody>
      </p:sp>
      <p:sp>
        <p:nvSpPr>
          <p:cNvPr id="22" name="Oval 21"/>
          <p:cNvSpPr/>
          <p:nvPr/>
        </p:nvSpPr>
        <p:spPr>
          <a:xfrm>
            <a:off x="3886200" y="1234440"/>
            <a:ext cx="749808" cy="749808"/>
          </a:xfrm>
          <a:prstGeom prst="ellipse">
            <a:avLst/>
          </a:prstGeom>
          <a:solidFill>
            <a:srgbClr val="FFFFFF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463040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Aptos"/>
              </a:rPr>
              <a:t>Knowledge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897880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67085"/>
                </a:solidFill>
                <a:latin typeface="Aptos"/>
              </a:rPr>
              <a:t>La inteligencia artificial no reemplaza a la investigadora. Amplifica su capacidad de crear conocimiento.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WHAT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1323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01828"/>
                </a:solidFill>
                <a:latin typeface="Aptos"/>
              </a:rPr>
              <a:t>Continúa el laboratorio.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704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42318"/>
                </a:solidFill>
                <a:latin typeface="Aptos"/>
              </a:rPr>
              <a:t>Research AI Lab · Versión 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0" y="1737360"/>
            <a:ext cx="21031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246888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01828"/>
                </a:solidFill>
                <a:latin typeface="Aptos"/>
              </a:rPr>
              <a:t>QR oficial
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514600"/>
            <a:ext cx="5029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08960"/>
            <a:ext cx="5029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735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Toolkit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703320"/>
            <a:ext cx="5029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1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Economics 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297680"/>
            <a:ext cx="5029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6227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Research Recipes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892040"/>
            <a:ext cx="502920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56631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Roadmap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Backup · Stack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Aptos"/>
              </a:rPr>
              <a:t>Qué problema resuelve cada capa metodológica.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Descubrimiento · comprender y expandir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944368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Validación · medir confianza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85615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0207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Lectura · comparar método y datos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26864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9145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Memoria · sostener contexto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468112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632704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Comunicación · escribir con evidencia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Backup · Consultas exactas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Aptos"/>
              </a:rPr>
              <a:t>Punto de partida para repetir el laboratorio.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"artificial intelligence" productivity "emerging economies"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944368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"AI adoption" firms productivity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85615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0207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"developing countries" artificial intelligence growth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0116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  <a:latin typeface="Aptos"/>
              </a:rPr>
              <a:t>Backup · Checklist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7085"/>
                </a:solidFill>
                <a:latin typeface="Aptos"/>
              </a:rPr>
              <a:t>Antes de abrir herramientas en escenario.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Navegadores limpios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944368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Sesiones abiertas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85615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0207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Pestañas fijadas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26864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9145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Corpus listo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468112"/>
            <a:ext cx="475488" cy="2743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632704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Aptos"/>
              </a:rPr>
              <a:t>Plan B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