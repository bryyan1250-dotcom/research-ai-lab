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74320"/>
            <a:ext cx="2743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Open Methodology Launch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051560"/>
            <a:ext cx="822960" cy="36576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6400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101828"/>
                </a:solidFill>
                <a:latin typeface="Aptos"/>
              </a:rPr>
              <a:t>Research AI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B42318"/>
                </a:solidFill>
                <a:latin typeface="Aptos"/>
              </a:rPr>
              <a:t>Version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7772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01828"/>
                </a:solidFill>
                <a:latin typeface="Aptos"/>
              </a:rPr>
              <a:t>Research Intelligence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520440"/>
            <a:ext cx="749807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67085"/>
                </a:solidFill>
                <a:latin typeface="Aptos"/>
              </a:rPr>
              <a:t>From Scientific Question to Evidence-Based Knowledge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731520" cy="36576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950976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101828"/>
                </a:solidFill>
                <a:latin typeface="Aptos"/>
              </a:rPr>
              <a:t>Tomorrow morning you need to begin a serious investigation.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786384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667085"/>
                </a:solidFill>
                <a:latin typeface="Aptos"/>
              </a:rPr>
              <a:t>You have one question. Nothing else.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1828800"/>
            <a:ext cx="9509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01828"/>
                </a:solidFill>
                <a:latin typeface="Aptos"/>
              </a:rPr>
              <a:t>"Prepare a complete state of the art on this topic."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794760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0">
                <a:solidFill>
                  <a:srgbClr val="B42318"/>
                </a:solidFill>
                <a:latin typeface="Aptos"/>
              </a:rPr>
              <a:t>That is where modern research pressure begins.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0584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101828"/>
                </a:solidFill>
                <a:latin typeface="Aptos"/>
              </a:rPr>
              <a:t>How is Generative Artificial Intelligence impacting productivity and economic growth?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101828"/>
                </a:solidFill>
                <a:latin typeface="Aptos"/>
              </a:rPr>
              <a:t>Research always begins with a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315468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667085"/>
                </a:solidFill>
                <a:latin typeface="Aptos"/>
              </a:rPr>
              <a:t>Not with AI.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005840"/>
            <a:ext cx="914400" cy="36576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6400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101828"/>
                </a:solidFill>
                <a:latin typeface="Aptos"/>
              </a:rPr>
              <a:t>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7772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7085"/>
                </a:solidFill>
                <a:latin typeface="Aptos"/>
              </a:rPr>
              <a:t>A methodology, not a collection of tools.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101828"/>
                </a:solidFill>
                <a:latin typeface="Aptos"/>
              </a:rPr>
              <a:t>The methodology is permanent.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3154680"/>
            <a:ext cx="7132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667085"/>
                </a:solidFill>
                <a:latin typeface="Aptos"/>
              </a:rPr>
              <a:t>The tools are replaceable.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01828"/>
                </a:solidFill>
                <a:latin typeface="Aptos"/>
              </a:rPr>
              <a:t>Research Intelligence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42415"/>
            <a:ext cx="7680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7085"/>
                </a:solidFill>
                <a:latin typeface="Aptos"/>
              </a:rPr>
              <a:t>From Scientific Question to Evidence-Based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572768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B42318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773936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04825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Scientific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249424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2523744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Scientific Corpus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724912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999232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Seed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3200400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3474720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Knowledge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23560" y="3675887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3950208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Scientific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4151376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442569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Literature Synthesis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4626864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4901184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Scientific Memory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5102352"/>
            <a:ext cx="3657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67085"/>
                </a:solidFill>
                <a:latin typeface="Aptos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5376672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101828"/>
                </a:solidFill>
                <a:latin typeface="Aptos"/>
              </a:rPr>
              <a:t>Scientific Communication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01828"/>
                </a:solidFill>
                <a:latin typeface="Aptos"/>
              </a:rPr>
              <a:t>Transformation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24128"/>
            <a:ext cx="6766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7085"/>
                </a:solidFill>
                <a:latin typeface="Aptos"/>
              </a:rPr>
              <a:t>Each stage answers a different scientific question.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1801368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Scientific 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What do I want to investigate?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847088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01828"/>
                </a:solidFill>
                <a:latin typeface="Aptos"/>
              </a:rPr>
              <a:t>Researcher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847088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Research Question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240280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286000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Scientific Language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28600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How does the community talk about this problem?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286000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Perplexity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8600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Concept Map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2679192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724912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Scientific Corpus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72491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What literature exists?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724912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OpenAlex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724912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Scientific Corpus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118104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163824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Seed Paper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316382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Where should I begin?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163824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Semantic Scholar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163824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Best Starting Paper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3557016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602736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Knowledge Evolution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602736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How has the field evolved?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602736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Litmaps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602736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Knowledge Map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3995928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041648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4041648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What does science conclude?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4041648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Consensus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041648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Evidence Strength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4434840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Literature Synthesis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448056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What do all studies conclude?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80560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SciSpace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4480560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Initial Literature Review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4873752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4919472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Scientific Memory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91947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How do I organize knowledge?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919472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NotebookLM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919472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Knowledge Base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" y="5312664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5358384"/>
            <a:ext cx="1920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Scientific Communication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5358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How do I communicate my findings?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5358384"/>
            <a:ext cx="14173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42318"/>
                </a:solidFill>
                <a:latin typeface="Aptos"/>
              </a:rPr>
              <a:t>ChatGPT / Claude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5358384"/>
            <a:ext cx="24231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01828"/>
                </a:solidFill>
                <a:latin typeface="Aptos"/>
              </a:rPr>
              <a:t>Scientific Product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62179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01828"/>
                </a:solidFill>
                <a:latin typeface="Aptos"/>
              </a:rPr>
              <a:t>Why Not Use Only One Tool?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5943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7085"/>
                </a:solidFill>
                <a:latin typeface="Aptos"/>
              </a:rPr>
              <a:t>No tool replaces another.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If I only use...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I obtain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72768"/>
            <a:ext cx="1828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But I lose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801368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4708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Perplexity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84708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Rapid concepts and vocabulary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47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Literature, evidence strength and 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221992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677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OpenAlex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26771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Scientific corpus with DOI and authors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26771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Context, synthesis and evolution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2642616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688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Semantic Scholar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688336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Strong starting papers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688336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Landscape and evidence synthesis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063240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1089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Litmaps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10896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Evolution and networks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1089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Deep reading and evidence evaluation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483864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52958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Consensus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5295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Evidence-based answers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529584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Method context and mapping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3904488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95020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SciSpace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95020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Structured literature synthesis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395020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Discovery, mapping and memory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4325112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3708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NotebookLM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37083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Project memory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37083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Discovery and evidence validation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4745736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479145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Aptos"/>
              </a:rPr>
              <a:t>ChatGPT / Claude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791456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Communication and writing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791456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01828"/>
                </a:solidFill>
                <a:latin typeface="Aptos"/>
              </a:rPr>
              <a:t>Discovery, traceability and validation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5870448"/>
            <a:ext cx="9326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67085"/>
                </a:solidFill>
                <a:latin typeface="Aptos"/>
              </a:rPr>
              <a:t>No tool replaces another. Each one optimizes a different cognitive transformation of the scientific process.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005840"/>
            <a:ext cx="914400" cy="36576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6400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101828"/>
                </a:solidFill>
                <a:latin typeface="Aptos"/>
              </a:rPr>
              <a:t>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7772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7085"/>
                </a:solidFill>
                <a:latin typeface="Aptos"/>
              </a:rPr>
              <a:t>One workflow. One investigation.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Scientific 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How does the scientific community talk about this problem?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Perplexity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Learn the language of the research domain.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Concepts, keywords, synonyms, variables and hypotheses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How is Generative Artificial Intelligence impacting productivity and economic growth?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How does the scientific community talk about this problem?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Scientific Corpus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Scientific Corpus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What scientific literature already exists?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OpenAlex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Discover the scientific landscape.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Authors, journals, DOI, institutions and scientific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Artificial Intelligence productivity / Artificial Intelligence economic growth / Artificial Intelligence productivity emerging economies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What scientific literature already exists?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Seed Paper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Seed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Where should I begin?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Semantic Scholar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Find the right paper to start reading.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Systematic review, meta-analysis or research agenda to anchor the 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Artificial Intelligence productivity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Where should I begin?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Knowledge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Knowledge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How has this field evolved?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Litmaps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See the field as an evolving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Timeline, clusters, connections, authors and evolution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Use the seed paper. Never use keywords.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How has this field evolved?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Scientific Evidence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Scientific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What does the scientific evidence say?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Consensus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Measure evidence, not opinion.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Consensus meter, evidence strength, supporting studies and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Does artificial intelligence improve productivity?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What does the scientific evidence say?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Literature Synthesis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Literature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What does the literature conclude?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SciSpace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Synthesize dozens of studies into an initial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Initial literature review, themes, references and 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Experimental evidence on the productivity effects of generative artificial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What does the literature conclude?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Scientific Memory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Scientific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How do I organize everything?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NotebookLM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Convert a corpus into reusable research memory.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Knowledge base, comparisons, timeline, questions and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Upload papers, synthesis markdown and research notes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How do I organize everything?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Scientific Communication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66928"/>
            <a:ext cx="42062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Scientific Communication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960120"/>
            <a:ext cx="73152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SCIENTIFIC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17904"/>
            <a:ext cx="4023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Aptos"/>
              </a:rPr>
              <a:t>How do I transform evidence into communication?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9572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1518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ChatGPT / 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46704"/>
            <a:ext cx="42062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01828"/>
                </a:solidFill>
                <a:latin typeface="Aptos"/>
              </a:rPr>
              <a:t>Turn validated evidence into scientific products.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63440"/>
            <a:ext cx="42062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01828"/>
                </a:solidFill>
                <a:latin typeface="Aptos"/>
              </a:rPr>
              <a:t>Scientific communication grounded in validated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984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SEARCH /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1517904"/>
            <a:ext cx="46634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Generate executive summary, review, gap, proposal and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127248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WHY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3346704"/>
            <a:ext cx="466344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01828"/>
                </a:solidFill>
                <a:latin typeface="Aptos"/>
              </a:rPr>
              <a:t>This stage exists because the researcher must answer: How do I transform evidence into communication?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443984"/>
            <a:ext cx="16459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663440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B42318"/>
                </a:solidFill>
                <a:latin typeface="Aptos"/>
              </a:rPr>
              <a:t>Future Research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005840"/>
            <a:ext cx="914400" cy="36576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463040"/>
            <a:ext cx="6400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800" b="1">
                <a:solidFill>
                  <a:srgbClr val="101828"/>
                </a:solidFill>
                <a:latin typeface="Aptos"/>
              </a:rPr>
              <a:t>WHAT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43200"/>
            <a:ext cx="7772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667085"/>
                </a:solidFill>
                <a:latin typeface="Aptos"/>
              </a:rPr>
              <a:t>From workflow to open methodology.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WHAT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3474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101828"/>
                </a:solidFill>
                <a:latin typeface="Aptos"/>
              </a:rPr>
              <a:t>Version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8412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667085"/>
                </a:solidFill>
                <a:latin typeface="Aptos"/>
              </a:rPr>
              <a:t>An open methodology for orchestrating specialized intelligence across the scientific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2084831"/>
            <a:ext cx="54864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49424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01828"/>
                </a:solidFill>
                <a:latin typeface="Aptos"/>
              </a:rPr>
              <a:t>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2084831"/>
            <a:ext cx="54864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4920" y="2249424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01828"/>
                </a:solidFill>
                <a:latin typeface="Aptos"/>
              </a:rPr>
              <a:t>Economics 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3136391"/>
            <a:ext cx="54864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01828"/>
                </a:solidFill>
                <a:latin typeface="Aptos"/>
              </a:rPr>
              <a:t>Research Guides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3136391"/>
            <a:ext cx="54864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3300984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01828"/>
                </a:solidFill>
                <a:latin typeface="Aptos"/>
              </a:rPr>
              <a:t>Prompt Pack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187952"/>
            <a:ext cx="548640" cy="27432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52544"/>
            <a:ext cx="3474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01828"/>
                </a:solidFill>
                <a:latin typeface="Aptos"/>
              </a:rPr>
              <a:t>Repository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01168"/>
            <a:ext cx="21031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WHAT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658368"/>
            <a:ext cx="47548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01828"/>
                </a:solidFill>
                <a:latin typeface="Aptos"/>
              </a:rPr>
              <a:t>What can be reproduced tomorrow morning?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36192"/>
            <a:ext cx="1828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Tomorrow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536192"/>
            <a:ext cx="1828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0" y="1536192"/>
            <a:ext cx="1828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67085"/>
                </a:solidFill>
                <a:latin typeface="Aptos"/>
              </a:rPr>
              <a:t>Outcome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783080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828800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1828"/>
                </a:solidFill>
                <a:latin typeface="Aptos"/>
              </a:rPr>
              <a:t>Use one 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828800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42318"/>
                </a:solidFill>
                <a:latin typeface="Aptos"/>
              </a:rPr>
              <a:t>Reproducible progress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441448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8716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487168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1828"/>
                </a:solidFill>
                <a:latin typeface="Aptos"/>
              </a:rPr>
              <a:t>Follow every cognitive stage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487168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42318"/>
                </a:solidFill>
                <a:latin typeface="Aptos"/>
              </a:rPr>
              <a:t>Reproducible progress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3099815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145535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145535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1828"/>
                </a:solidFill>
                <a:latin typeface="Aptos"/>
              </a:rPr>
              <a:t>Validate before 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145535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42318"/>
                </a:solidFill>
                <a:latin typeface="Aptos"/>
              </a:rPr>
              <a:t>Reproducible progress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758183"/>
            <a:ext cx="502920" cy="1828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3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01828"/>
                </a:solidFill>
                <a:latin typeface="Aptos"/>
              </a:rPr>
              <a:t>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803903"/>
            <a:ext cx="3291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1828"/>
                </a:solidFill>
                <a:latin typeface="Aptos"/>
              </a:rPr>
              <a:t>Produce a scientific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3803903"/>
            <a:ext cx="2926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B42318"/>
                </a:solidFill>
                <a:latin typeface="Aptos"/>
              </a:rPr>
              <a:t>Reproducible progress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101828"/>
                </a:solidFill>
                <a:latin typeface="Aptos"/>
              </a:rPr>
              <a:t>The modern researcher no longer searches for information.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291840"/>
            <a:ext cx="969264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101828"/>
                </a:solidFill>
                <a:latin typeface="Aptos"/>
              </a:rPr>
              <a:t>The modern researcher orchestrates evidence.
Competitive advantage is no longer about using the best AI.
It is about knowing which specialized intelligence to use at the right scientific moment.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